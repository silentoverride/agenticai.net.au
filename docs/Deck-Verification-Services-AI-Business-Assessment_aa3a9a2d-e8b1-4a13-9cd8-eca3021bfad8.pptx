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 am User Verifried. Welcome to the presentation on the Deck Verification Services AI Business Assessment dated May 1st, 2026. Today, we will evaluate current operational inefficiencies and propose solutions using automation and AI. Our goal is to streamline enquiry handling, reduce administrative overhead, and improve our quote tracking processes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currently struggle with manual enquiry handling and tracking via spreadsheets, leading to high administrative overhead. Our proposed solution involves implementing a CRM with automated workflows to streamline processes. Furthermore, adopting AI-driven intake systems will significantly reduce manual data entry, improving overall efficiency and reducing errors in our operations.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currently facing several critical challenges that are hindering our efficiency. Without automated routing, processing enquiries is slow. We rely on spreadsheets, which are prone to errors and time-consuming. Furthermore, inconsistent follow-ups and the absence of a centralised CRM mean we are potentially missing out on valuable leads and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strategic opportunities that can significantly impact your operational efficiency. First, the CRM with automated follow-ups saves valuable time. Second, AI integration helps qualify enquiries automatically. Third, end-to-end automation streamlines your quote workflow. These initiatives represent both quick wins and long-term improvements that can transform your operations and free up more time for value-added activities.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review the roadmap for the next two months. We begin by auditing current processes and setting up the HubSpot CRM and web forms. Following that, we implement automation workflows for emails and data connectivity. The final phase focuses on deploying the AI chatbot and knowledge base, ensuring we have time for necessary training and refinement of our procedures.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calculated the financial impact of the recommended automation and CRM tools. By saving 8 hours weekly, we generate a gross annual value of 30,720 AUD. After deducting the total monthly tool cost of 120 AUD for HubSpot, Zapier, Typeform, and Tidio, the net annual value stands at 29,280 AUD, representing a significant return on investment.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2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838200" y="1981200"/>
            <a:ext cx="4876800" cy="3048000"/>
          </a:xfrm>
          <a:prstGeom prst="roundRect">
            <a:avLst>
              <a:gd name="adj" fmla="val 5000"/>
            </a:avLst>
          </a:prstGeom>
          <a:solidFill>
            <a:srgbClr val="FFFFFF"/>
          </a:solidFill>
          <a:ln>
            <a:noFill/>
          </a:ln>
          <a:effectLst>
            <a:outerShdw blurRad="142875" dir="5400000" dist="9525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c2ecfde5-2e82-4234-8ddc-fb616c01716d.png"/>
          <p:cNvPicPr>
            <a:picLocks noChangeAspect="1"/>
          </p:cNvPicPr>
          <p:nvPr/>
        </p:nvPicPr>
        <p:blipFill>
          <a:blip r:embed="rId3"/>
          <a:stretch>
            <a:fillRect/>
          </a:stretch>
        </p:blipFill>
        <p:spPr>
          <a:xfrm>
            <a:off x="838200" y="1981200"/>
            <a:ext cx="4876800" cy="3048000"/>
          </a:xfrm>
          <a:prstGeom prst="rect">
            <a:avLst/>
          </a:prstGeom>
        </p:spPr>
      </p:pic>
      <p:sp>
        <p:nvSpPr>
          <p:cNvPr id="4" name="TextBox 3"/>
          <p:cNvSpPr txBox="1"/>
          <p:nvPr/>
        </p:nvSpPr>
        <p:spPr>
          <a:xfrm>
            <a:off x="6400800" y="1533525"/>
            <a:ext cx="5048250" cy="1714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4500" b="1">
                <a:solidFill>
                  <a:srgbClr val="111827"/>
                </a:solidFill>
                <a:latin typeface="Poppins"/>
              </a:defRPr>
            </a:pPr>
            <a:r>
              <a:rPr i="0" sz="4500" b="1">
                <a:solidFill>
                  <a:srgbClr val="111827"/>
                </a:solidFill>
                <a:latin typeface="Poppins"/>
              </a:rPr>
              <a:t>Deck Verification AI Assessment</a:t>
            </a:r>
          </a:p>
        </p:txBody>
      </p:sp>
      <p:sp>
        <p:nvSpPr>
          <p:cNvPr id="5" name="Rectangle 4"/>
          <p:cNvSpPr/>
          <p:nvPr/>
        </p:nvSpPr>
        <p:spPr>
          <a:xfrm>
            <a:off x="6400800" y="3476625"/>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400800" y="3743325"/>
            <a:ext cx="5048250" cy="5334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4444"/>
              </a:lnSpc>
              <a:defRPr i="0" sz="1350" b="0">
                <a:solidFill>
                  <a:srgbClr val="4B5563"/>
                </a:solidFill>
                <a:latin typeface="Poppins"/>
              </a:defRPr>
            </a:pPr>
            <a:r>
              <a:rPr i="0" sz="1350" b="0">
                <a:solidFill>
                  <a:srgbClr val="4B5563"/>
                </a:solidFill>
                <a:latin typeface="Poppins"/>
              </a:rPr>
              <a:t>Proposes </a:t>
            </a:r>
            <a:r>
              <a:rPr i="0" sz="1350" b="1">
                <a:solidFill>
                  <a:srgbClr val="4B5563"/>
                </a:solidFill>
                <a:latin typeface="Poppins"/>
              </a:rPr>
              <a:t>automation</a:t>
            </a:r>
            <a:r>
              <a:rPr i="0" sz="1350" b="0">
                <a:solidFill>
                  <a:srgbClr val="4B5563"/>
                </a:solidFill>
                <a:latin typeface="Poppins"/>
              </a:rPr>
              <a:t> and </a:t>
            </a:r>
            <a:r>
              <a:rPr i="0" sz="1350" b="1">
                <a:solidFill>
                  <a:srgbClr val="4B5563"/>
                </a:solidFill>
                <a:latin typeface="Poppins"/>
              </a:rPr>
              <a:t>AI solutions</a:t>
            </a:r>
            <a:r>
              <a:rPr i="0" sz="1350" b="0">
                <a:solidFill>
                  <a:srgbClr val="4B5563"/>
                </a:solidFill>
                <a:latin typeface="Poppins"/>
              </a:rPr>
              <a:t> to streamline enquiry handling and improve </a:t>
            </a:r>
            <a:r>
              <a:rPr i="0" sz="1350" b="1">
                <a:solidFill>
                  <a:srgbClr val="4B5563"/>
                </a:solidFill>
                <a:latin typeface="Poppins"/>
              </a:rPr>
              <a:t>quote tracking</a:t>
            </a:r>
            <a:r>
              <a:rPr i="0" sz="1350" b="0">
                <a:solidFill>
                  <a:srgbClr val="4B5563"/>
                </a:solidFill>
                <a:latin typeface="Poppins"/>
              </a:rPr>
              <a:t>.</a:t>
            </a:r>
          </a:p>
        </p:txBody>
      </p:sp>
      <p:sp>
        <p:nvSpPr>
          <p:cNvPr id="7" name="Rounded Rectangle 6"/>
          <p:cNvSpPr/>
          <p:nvPr/>
        </p:nvSpPr>
        <p:spPr>
          <a:xfrm>
            <a:off x="6400800" y="4505325"/>
            <a:ext cx="5029200" cy="971550"/>
          </a:xfrm>
          <a:prstGeom prst="roundRect">
            <a:avLst>
              <a:gd name="adj" fmla="val 7843"/>
            </a:avLst>
          </a:prstGeom>
          <a:solidFill>
            <a:srgbClr val="FFFFFF"/>
          </a:solidFill>
          <a:ln w="9525">
            <a:solidFill>
              <a:srgbClr val="E5E7EB"/>
            </a:solidFill>
          </a:ln>
          <a:effectLst>
            <a:outerShdw blurRad="19050" dir="5400000" dist="9525" rotWithShape="0">
              <a:srgbClr val="000000">
                <a:alpha val="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p>
        </p:txBody>
      </p:sp>
      <p:sp>
        <p:nvSpPr>
          <p:cNvPr id="8" name="Rounded Rectangle 7"/>
          <p:cNvSpPr/>
          <p:nvPr/>
        </p:nvSpPr>
        <p:spPr>
          <a:xfrm>
            <a:off x="6638925" y="4762500"/>
            <a:ext cx="457200" cy="4572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6758136" y="4876800"/>
            <a:ext cx="237827"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1">
                <a:solidFill>
                  <a:srgbClr val="FFFFFF"/>
                </a:solidFill>
                <a:latin typeface="Poppins"/>
              </a:defRPr>
            </a:pPr>
            <a:r>
              <a:rPr i="0" sz="1200" b="1">
                <a:solidFill>
                  <a:srgbClr val="FFFFFF"/>
                </a:solidFill>
                <a:latin typeface="Poppins"/>
              </a:rPr>
              <a:t>UV</a:t>
            </a:r>
          </a:p>
        </p:txBody>
      </p:sp>
      <p:sp>
        <p:nvSpPr>
          <p:cNvPr id="10" name="TextBox 9"/>
          <p:cNvSpPr txBox="1"/>
          <p:nvPr/>
        </p:nvSpPr>
        <p:spPr>
          <a:xfrm>
            <a:off x="7248525" y="4743450"/>
            <a:ext cx="134615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12000"/>
              </a:lnSpc>
              <a:defRPr i="0" sz="1500" b="1">
                <a:solidFill>
                  <a:srgbClr val="111827"/>
                </a:solidFill>
                <a:latin typeface="Poppins"/>
              </a:defRPr>
            </a:pPr>
            <a:r>
              <a:rPr i="0" sz="1500" b="1">
                <a:solidFill>
                  <a:srgbClr val="111827"/>
                </a:solidFill>
                <a:latin typeface="Poppins"/>
              </a:rPr>
              <a:t>User Verifried</a:t>
            </a:r>
          </a:p>
        </p:txBody>
      </p:sp>
      <p:sp>
        <p:nvSpPr>
          <p:cNvPr id="11" name="TextBox 10"/>
          <p:cNvSpPr txBox="1"/>
          <p:nvPr/>
        </p:nvSpPr>
        <p:spPr>
          <a:xfrm>
            <a:off x="7248525" y="5010150"/>
            <a:ext cx="1346150"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0">
                <a:solidFill>
                  <a:srgbClr val="4B5563"/>
                </a:solidFill>
                <a:latin typeface="Poppins"/>
              </a:defRPr>
            </a:pPr>
            <a:r>
              <a:rPr i="0" sz="1200" b="0">
                <a:solidFill>
                  <a:srgbClr val="4B5563"/>
                </a:solidFill>
                <a:latin typeface="Poppins"/>
              </a:rPr>
              <a:t>2026-05-01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838200" y="1752600"/>
            <a:ext cx="4876800" cy="3048000"/>
          </a:xfrm>
          <a:prstGeom prst="roundRect">
            <a:avLst>
              <a:gd name="adj" fmla="val 5000"/>
            </a:avLst>
          </a:prstGeom>
          <a:solidFill>
            <a:srgbClr val="FFFFFF"/>
          </a:solidFill>
          <a:ln>
            <a:noFill/>
          </a:ln>
          <a:effectLst>
            <a:outerShdw blurRad="142875" dir="5400000" dist="9525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9ecb0b14-a610-4b29-a783-fa63769ab2c0.png"/>
          <p:cNvPicPr>
            <a:picLocks noChangeAspect="1"/>
          </p:cNvPicPr>
          <p:nvPr/>
        </p:nvPicPr>
        <p:blipFill>
          <a:blip r:embed="rId3"/>
          <a:stretch>
            <a:fillRect/>
          </a:stretch>
        </p:blipFill>
        <p:spPr>
          <a:xfrm>
            <a:off x="838200" y="1752600"/>
            <a:ext cx="4876800" cy="3048000"/>
          </a:xfrm>
          <a:prstGeom prst="rect">
            <a:avLst/>
          </a:prstGeom>
        </p:spPr>
      </p:pic>
      <p:sp>
        <p:nvSpPr>
          <p:cNvPr id="4" name="TextBox 3"/>
          <p:cNvSpPr txBox="1"/>
          <p:nvPr/>
        </p:nvSpPr>
        <p:spPr>
          <a:xfrm>
            <a:off x="6400800" y="2190750"/>
            <a:ext cx="504825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4500" b="1">
                <a:solidFill>
                  <a:srgbClr val="111827"/>
                </a:solidFill>
                <a:latin typeface="Poppins"/>
              </a:defRPr>
            </a:pPr>
            <a:r>
              <a:rPr i="0" sz="4500" b="1">
                <a:solidFill>
                  <a:srgbClr val="111827"/>
                </a:solidFill>
                <a:latin typeface="Poppins"/>
              </a:rPr>
              <a:t>Executive Summary</a:t>
            </a:r>
          </a:p>
        </p:txBody>
      </p:sp>
      <p:sp>
        <p:nvSpPr>
          <p:cNvPr id="5" name="Rectangle 4"/>
          <p:cNvSpPr/>
          <p:nvPr/>
        </p:nvSpPr>
        <p:spPr>
          <a:xfrm>
            <a:off x="6400800" y="3562350"/>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400800" y="3829050"/>
            <a:ext cx="5048250" cy="5334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4444"/>
              </a:lnSpc>
              <a:defRPr i="0" sz="1350" b="0">
                <a:solidFill>
                  <a:srgbClr val="4B5563"/>
                </a:solidFill>
                <a:latin typeface="Poppins"/>
              </a:defRPr>
            </a:pPr>
            <a:r>
              <a:rPr i="0" sz="1350" b="0">
                <a:solidFill>
                  <a:srgbClr val="4B5563"/>
                </a:solidFill>
                <a:latin typeface="Poppins"/>
              </a:rPr>
              <a:t>Moving from </a:t>
            </a:r>
            <a:r>
              <a:rPr i="0" sz="1350" b="1">
                <a:solidFill>
                  <a:srgbClr val="4B5563"/>
                </a:solidFill>
                <a:latin typeface="Poppins"/>
              </a:rPr>
              <a:t>manual spreadsheets</a:t>
            </a:r>
            <a:r>
              <a:rPr i="0" sz="1350" b="0">
                <a:solidFill>
                  <a:srgbClr val="4B5563"/>
                </a:solidFill>
                <a:latin typeface="Poppins"/>
              </a:rPr>
              <a:t> to </a:t>
            </a:r>
            <a:r>
              <a:rPr i="0" sz="1350" b="1">
                <a:solidFill>
                  <a:srgbClr val="4B5563"/>
                </a:solidFill>
                <a:latin typeface="Poppins"/>
              </a:rPr>
              <a:t>automated CRM</a:t>
            </a:r>
            <a:r>
              <a:rPr i="0" sz="1350" b="0">
                <a:solidFill>
                  <a:srgbClr val="4B5563"/>
                </a:solidFill>
                <a:latin typeface="Poppins"/>
              </a:rPr>
              <a:t> and </a:t>
            </a:r>
            <a:r>
              <a:rPr i="0" sz="1350" b="1">
                <a:solidFill>
                  <a:srgbClr val="4B5563"/>
                </a:solidFill>
                <a:latin typeface="Poppins"/>
              </a:rPr>
              <a:t>AI</a:t>
            </a:r>
            <a:r>
              <a:rPr i="0" sz="1350" b="0">
                <a:solidFill>
                  <a:srgbClr val="4B5563"/>
                </a:solidFill>
                <a:latin typeface="Poppins"/>
              </a:rPr>
              <a:t> systems to streamline operations.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e089dece-c099-484f-bba1-439077b74ac4.png"/>
          <p:cNvPicPr>
            <a:picLocks noChangeAspect="1"/>
          </p:cNvPicPr>
          <p:nvPr/>
        </p:nvPicPr>
        <p:blipFill>
          <a:blip r:embed="rId3"/>
          <a:stretch>
            <a:fillRect/>
          </a:stretch>
        </p:blipFill>
        <p:spPr>
          <a:xfrm>
            <a:off x="0" y="0"/>
            <a:ext cx="1219200" cy="6858000"/>
          </a:xfrm>
          <a:prstGeom prst="rect">
            <a:avLst/>
          </a:prstGeom>
        </p:spPr>
      </p:pic>
      <p:pic>
        <p:nvPicPr>
          <p:cNvPr id="3" name="Picture 2" descr="6ae53178-9000-4828-90f4-1f6a3d81db12.png"/>
          <p:cNvPicPr>
            <a:picLocks noChangeAspect="1"/>
          </p:cNvPicPr>
          <p:nvPr/>
        </p:nvPicPr>
        <p:blipFill>
          <a:blip r:embed="rId4"/>
          <a:stretch>
            <a:fillRect/>
          </a:stretch>
        </p:blipFill>
        <p:spPr>
          <a:xfrm>
            <a:off x="0" y="5638800"/>
            <a:ext cx="1828800" cy="1219200"/>
          </a:xfrm>
          <a:prstGeom prst="rect">
            <a:avLst/>
          </a:prstGeom>
        </p:spPr>
      </p:pic>
      <p:sp>
        <p:nvSpPr>
          <p:cNvPr id="4" name="TextBox 3"/>
          <p:cNvSpPr txBox="1"/>
          <p:nvPr/>
        </p:nvSpPr>
        <p:spPr>
          <a:xfrm>
            <a:off x="762000" y="457200"/>
            <a:ext cx="6724650" cy="685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5400" b="1">
                <a:solidFill>
                  <a:srgbClr val="111827"/>
                </a:solidFill>
                <a:latin typeface="Poppins"/>
              </a:defRPr>
            </a:pPr>
            <a:r>
              <a:rPr i="0" sz="5400" b="1">
                <a:solidFill>
                  <a:srgbClr val="111827"/>
                </a:solidFill>
                <a:latin typeface="Poppins"/>
              </a:rPr>
              <a:t>Critical Pain Points</a:t>
            </a:r>
          </a:p>
        </p:txBody>
      </p:sp>
      <p:sp>
        <p:nvSpPr>
          <p:cNvPr id="5" name="Rounded Rectangle 4"/>
          <p:cNvSpPr/>
          <p:nvPr/>
        </p:nvSpPr>
        <p:spPr>
          <a:xfrm>
            <a:off x="914400" y="2728912"/>
            <a:ext cx="457200" cy="4572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ab7b39a1-7302-4e62-993d-44c338c7e36c.png"/>
          <p:cNvPicPr>
            <a:picLocks noChangeAspect="1"/>
          </p:cNvPicPr>
          <p:nvPr/>
        </p:nvPicPr>
        <p:blipFill>
          <a:blip r:embed="rId5"/>
          <a:stretch>
            <a:fillRect/>
          </a:stretch>
        </p:blipFill>
        <p:spPr>
          <a:xfrm>
            <a:off x="1028700" y="2846040"/>
            <a:ext cx="228600" cy="228600"/>
          </a:xfrm>
          <a:prstGeom prst="rect">
            <a:avLst/>
          </a:prstGeom>
        </p:spPr>
      </p:pic>
      <p:sp>
        <p:nvSpPr>
          <p:cNvPr id="7" name="TextBox 6"/>
          <p:cNvSpPr txBox="1"/>
          <p:nvPr/>
        </p:nvSpPr>
        <p:spPr>
          <a:xfrm>
            <a:off x="1524000" y="2728912"/>
            <a:ext cx="2343150" cy="5334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12000"/>
              </a:lnSpc>
              <a:defRPr i="0" sz="1500" b="0">
                <a:solidFill>
                  <a:srgbClr val="111827"/>
                </a:solidFill>
                <a:latin typeface="Poppins"/>
              </a:defRPr>
            </a:pPr>
            <a:r>
              <a:rPr i="0" sz="1500" b="0">
                <a:solidFill>
                  <a:srgbClr val="111827"/>
                </a:solidFill>
                <a:latin typeface="Poppins"/>
              </a:rPr>
              <a:t>Manual Enquiry Processing</a:t>
            </a:r>
          </a:p>
        </p:txBody>
      </p:sp>
      <p:sp>
        <p:nvSpPr>
          <p:cNvPr id="8" name="TextBox 7"/>
          <p:cNvSpPr txBox="1"/>
          <p:nvPr/>
        </p:nvSpPr>
        <p:spPr>
          <a:xfrm>
            <a:off x="1524000" y="3300412"/>
            <a:ext cx="2343150" cy="433387"/>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050" b="0">
                <a:solidFill>
                  <a:srgbClr val="4B5563"/>
                </a:solidFill>
                <a:latin typeface="Poppins"/>
              </a:defRPr>
            </a:pPr>
            <a:r>
              <a:rPr i="0" sz="1050" b="0">
                <a:solidFill>
                  <a:srgbClr val="4B5563"/>
                </a:solidFill>
                <a:latin typeface="Poppins"/>
              </a:rPr>
              <a:t>No automated routing exists for daily incoming enquiries.</a:t>
            </a:r>
          </a:p>
        </p:txBody>
      </p:sp>
      <p:sp>
        <p:nvSpPr>
          <p:cNvPr id="9" name="Rounded Rectangle 8"/>
          <p:cNvSpPr/>
          <p:nvPr/>
        </p:nvSpPr>
        <p:spPr>
          <a:xfrm>
            <a:off x="4381500" y="2728912"/>
            <a:ext cx="457200" cy="4572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0" name="Picture 9" descr="0f49a76e-64f3-476d-9ec6-5e715a946860.png"/>
          <p:cNvPicPr>
            <a:picLocks noChangeAspect="1"/>
          </p:cNvPicPr>
          <p:nvPr/>
        </p:nvPicPr>
        <p:blipFill>
          <a:blip r:embed="rId6"/>
          <a:stretch>
            <a:fillRect/>
          </a:stretch>
        </p:blipFill>
        <p:spPr>
          <a:xfrm>
            <a:off x="4495800" y="2846040"/>
            <a:ext cx="228600" cy="228600"/>
          </a:xfrm>
          <a:prstGeom prst="rect">
            <a:avLst/>
          </a:prstGeom>
        </p:spPr>
      </p:pic>
      <p:sp>
        <p:nvSpPr>
          <p:cNvPr id="11" name="TextBox 10"/>
          <p:cNvSpPr txBox="1"/>
          <p:nvPr/>
        </p:nvSpPr>
        <p:spPr>
          <a:xfrm>
            <a:off x="4991100" y="2728912"/>
            <a:ext cx="234315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12000"/>
              </a:lnSpc>
              <a:defRPr i="0" sz="1500" b="0">
                <a:solidFill>
                  <a:srgbClr val="111827"/>
                </a:solidFill>
                <a:latin typeface="Poppins"/>
              </a:defRPr>
            </a:pPr>
            <a:r>
              <a:rPr i="0" sz="1500" b="0">
                <a:solidFill>
                  <a:srgbClr val="111827"/>
                </a:solidFill>
                <a:latin typeface="Poppins"/>
              </a:rPr>
              <a:t>Spreadsheet Tracking</a:t>
            </a:r>
          </a:p>
        </p:txBody>
      </p:sp>
      <p:sp>
        <p:nvSpPr>
          <p:cNvPr id="12" name="TextBox 11"/>
          <p:cNvSpPr txBox="1"/>
          <p:nvPr/>
        </p:nvSpPr>
        <p:spPr>
          <a:xfrm>
            <a:off x="4991100" y="3033712"/>
            <a:ext cx="2343150" cy="433387"/>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050" b="0">
                <a:solidFill>
                  <a:srgbClr val="4B5563"/>
                </a:solidFill>
                <a:latin typeface="Poppins"/>
              </a:defRPr>
            </a:pPr>
            <a:r>
              <a:rPr i="0" sz="1050" b="1">
                <a:solidFill>
                  <a:srgbClr val="4B5563"/>
                </a:solidFill>
                <a:latin typeface="Poppins"/>
              </a:rPr>
              <a:t>Manual copying</a:t>
            </a:r>
            <a:r>
              <a:rPr i="0" sz="1050" b="0">
                <a:solidFill>
                  <a:srgbClr val="4B5563"/>
                </a:solidFill>
                <a:latin typeface="Poppins"/>
              </a:rPr>
              <a:t> increases error risks and admin time.</a:t>
            </a:r>
          </a:p>
        </p:txBody>
      </p:sp>
      <p:sp>
        <p:nvSpPr>
          <p:cNvPr id="13" name="Rounded Rectangle 12"/>
          <p:cNvSpPr/>
          <p:nvPr/>
        </p:nvSpPr>
        <p:spPr>
          <a:xfrm>
            <a:off x="914400" y="4267200"/>
            <a:ext cx="457200" cy="4572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df3fe311-2508-4244-9f78-cc4c44de8ef3.png"/>
          <p:cNvPicPr>
            <a:picLocks noChangeAspect="1"/>
          </p:cNvPicPr>
          <p:nvPr/>
        </p:nvPicPr>
        <p:blipFill>
          <a:blip r:embed="rId7"/>
          <a:stretch>
            <a:fillRect/>
          </a:stretch>
        </p:blipFill>
        <p:spPr>
          <a:xfrm>
            <a:off x="1028700" y="4384327"/>
            <a:ext cx="228600" cy="228600"/>
          </a:xfrm>
          <a:prstGeom prst="rect">
            <a:avLst/>
          </a:prstGeom>
        </p:spPr>
      </p:pic>
      <p:sp>
        <p:nvSpPr>
          <p:cNvPr id="15" name="TextBox 14"/>
          <p:cNvSpPr txBox="1"/>
          <p:nvPr/>
        </p:nvSpPr>
        <p:spPr>
          <a:xfrm>
            <a:off x="1524000" y="4267200"/>
            <a:ext cx="2343150" cy="5334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12000"/>
              </a:lnSpc>
              <a:defRPr i="0" sz="1500" b="0">
                <a:solidFill>
                  <a:srgbClr val="111827"/>
                </a:solidFill>
                <a:latin typeface="Poppins"/>
              </a:defRPr>
            </a:pPr>
            <a:r>
              <a:rPr i="0" sz="1500" b="0">
                <a:solidFill>
                  <a:srgbClr val="111827"/>
                </a:solidFill>
                <a:latin typeface="Poppins"/>
              </a:rPr>
              <a:t>Inconsistent Follow-Ups</a:t>
            </a:r>
          </a:p>
        </p:txBody>
      </p:sp>
      <p:sp>
        <p:nvSpPr>
          <p:cNvPr id="16" name="TextBox 15"/>
          <p:cNvSpPr txBox="1"/>
          <p:nvPr/>
        </p:nvSpPr>
        <p:spPr>
          <a:xfrm>
            <a:off x="1524000" y="4838700"/>
            <a:ext cx="2343150" cy="433387"/>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050" b="0">
                <a:solidFill>
                  <a:srgbClr val="4B5563"/>
                </a:solidFill>
                <a:latin typeface="Poppins"/>
              </a:defRPr>
            </a:pPr>
            <a:r>
              <a:rPr i="0" sz="1050" b="0">
                <a:solidFill>
                  <a:srgbClr val="4B5563"/>
                </a:solidFill>
                <a:latin typeface="Poppins"/>
              </a:rPr>
              <a:t>Lack of </a:t>
            </a:r>
            <a:r>
              <a:rPr i="0" sz="1050" b="1">
                <a:solidFill>
                  <a:srgbClr val="4B5563"/>
                </a:solidFill>
                <a:latin typeface="Poppins"/>
              </a:rPr>
              <a:t>centralised CRM</a:t>
            </a:r>
            <a:r>
              <a:rPr i="0" sz="1050" b="0">
                <a:solidFill>
                  <a:srgbClr val="4B5563"/>
                </a:solidFill>
                <a:latin typeface="Poppins"/>
              </a:rPr>
              <a:t> causes missed opportunities.</a:t>
            </a:r>
          </a:p>
        </p:txBody>
      </p:sp>
      <p:pic>
        <p:nvPicPr>
          <p:cNvPr id="17" name="Picture 16" descr="19e0187a-0a3e-4daf-a3de-8a17bfc29f00.png"/>
          <p:cNvPicPr>
            <a:picLocks noChangeAspect="1"/>
          </p:cNvPicPr>
          <p:nvPr/>
        </p:nvPicPr>
        <p:blipFill>
          <a:blip r:embed="rId8"/>
          <a:stretch>
            <a:fillRect/>
          </a:stretch>
        </p:blipFill>
        <p:spPr>
          <a:xfrm>
            <a:off x="10820400" y="762000"/>
            <a:ext cx="304800" cy="304800"/>
          </a:xfrm>
          <a:prstGeom prst="rect">
            <a:avLst/>
          </a:prstGeom>
        </p:spPr>
      </p:pic>
      <p:pic>
        <p:nvPicPr>
          <p:cNvPr id="18" name="Picture 17" descr="eed5cafd-90bf-4381-8052-4c732c92ef3a.png"/>
          <p:cNvPicPr>
            <a:picLocks noChangeAspect="1"/>
          </p:cNvPicPr>
          <p:nvPr/>
        </p:nvPicPr>
        <p:blipFill>
          <a:blip r:embed="rId9"/>
          <a:stretch>
            <a:fillRect/>
          </a:stretch>
        </p:blipFill>
        <p:spPr>
          <a:xfrm>
            <a:off x="8077200" y="1066800"/>
            <a:ext cx="762000" cy="190500"/>
          </a:xfrm>
          <a:prstGeom prst="rect">
            <a:avLst/>
          </a:prstGeom>
        </p:spPr>
      </p:pic>
      <p:sp>
        <p:nvSpPr>
          <p:cNvPr id="19" name="Rounded Rectangle 18"/>
          <p:cNvSpPr/>
          <p:nvPr/>
        </p:nvSpPr>
        <p:spPr>
          <a:xfrm>
            <a:off x="7772400" y="1981200"/>
            <a:ext cx="3657600" cy="3048000"/>
          </a:xfrm>
          <a:prstGeom prst="roundRect">
            <a:avLst>
              <a:gd name="adj" fmla="val 5000"/>
            </a:avLst>
          </a:prstGeom>
          <a:solidFill>
            <a:srgbClr val="FFFFFF"/>
          </a:solidFill>
          <a:ln>
            <a:noFill/>
          </a:ln>
          <a:effectLst>
            <a:outerShdw blurRad="142875" dir="5400000" dist="9525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0" name="Picture 19" descr="f48c8662-d087-452c-a92f-b23d2cdfe3fc.png"/>
          <p:cNvPicPr>
            <a:picLocks noChangeAspect="1"/>
          </p:cNvPicPr>
          <p:nvPr/>
        </p:nvPicPr>
        <p:blipFill>
          <a:blip r:embed="rId10"/>
          <a:stretch>
            <a:fillRect/>
          </a:stretch>
        </p:blipFill>
        <p:spPr>
          <a:xfrm>
            <a:off x="7772400" y="1981200"/>
            <a:ext cx="3657600" cy="304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457200"/>
            <a:ext cx="1068705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4500" b="1">
                <a:solidFill>
                  <a:srgbClr val="111827"/>
                </a:solidFill>
                <a:latin typeface="Poppins"/>
              </a:defRPr>
            </a:pPr>
            <a:r>
              <a:rPr i="0" sz="4500" b="1">
                <a:solidFill>
                  <a:srgbClr val="111827"/>
                </a:solidFill>
                <a:latin typeface="Poppins"/>
              </a:rPr>
              <a:t>Strategic Opportunities</a:t>
            </a:r>
          </a:p>
        </p:txBody>
      </p:sp>
      <p:pic>
        <p:nvPicPr>
          <p:cNvPr id="3" name="Picture 2" descr="cc379d2f-8891-4529-a185-2cd3cd267edc.png"/>
          <p:cNvPicPr>
            <a:picLocks noChangeAspect="1"/>
          </p:cNvPicPr>
          <p:nvPr/>
        </p:nvPicPr>
        <p:blipFill>
          <a:blip r:embed="rId3"/>
          <a:stretch>
            <a:fillRect/>
          </a:stretch>
        </p:blipFill>
        <p:spPr>
          <a:xfrm>
            <a:off x="762000" y="1333500"/>
            <a:ext cx="5029200" cy="5219700"/>
          </a:xfrm>
          <a:prstGeom prst="rect">
            <a:avLst/>
          </a:prstGeom>
        </p:spPr>
      </p:pic>
      <p:pic>
        <p:nvPicPr>
          <p:cNvPr id="4" name="Picture 3" descr="86eda3c4-401b-4e4b-9e5a-b5875473f157.png"/>
          <p:cNvPicPr>
            <a:picLocks noChangeAspect="1"/>
          </p:cNvPicPr>
          <p:nvPr/>
        </p:nvPicPr>
        <p:blipFill>
          <a:blip r:embed="rId4"/>
          <a:stretch>
            <a:fillRect/>
          </a:stretch>
        </p:blipFill>
        <p:spPr>
          <a:xfrm>
            <a:off x="5257800" y="2095500"/>
            <a:ext cx="228600" cy="228600"/>
          </a:xfrm>
          <a:prstGeom prst="rect">
            <a:avLst/>
          </a:prstGeom>
        </p:spPr>
      </p:pic>
      <p:sp>
        <p:nvSpPr>
          <p:cNvPr id="5" name="TextBox 4"/>
          <p:cNvSpPr txBox="1"/>
          <p:nvPr/>
        </p:nvSpPr>
        <p:spPr>
          <a:xfrm>
            <a:off x="6400800" y="2197893"/>
            <a:ext cx="5048250" cy="557212"/>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350" b="0">
                <a:solidFill>
                  <a:srgbClr val="4B5563"/>
                </a:solidFill>
                <a:latin typeface="Poppins"/>
              </a:defRPr>
            </a:pPr>
            <a:r>
              <a:rPr i="0" sz="1350" b="0">
                <a:solidFill>
                  <a:srgbClr val="4B5563"/>
                </a:solidFill>
                <a:latin typeface="Poppins"/>
              </a:rPr>
              <a:t>Explore key ways to improve </a:t>
            </a:r>
            <a:r>
              <a:rPr i="0" sz="1350" b="1">
                <a:solidFill>
                  <a:srgbClr val="4B5563"/>
                </a:solidFill>
                <a:latin typeface="Poppins"/>
              </a:rPr>
              <a:t>efficiency</a:t>
            </a:r>
            <a:r>
              <a:rPr i="0" sz="1350" b="0">
                <a:solidFill>
                  <a:srgbClr val="4B5563"/>
                </a:solidFill>
                <a:latin typeface="Poppins"/>
              </a:rPr>
              <a:t> and leverage </a:t>
            </a:r>
            <a:r>
              <a:rPr i="0" sz="1350" b="1">
                <a:solidFill>
                  <a:srgbClr val="4B5563"/>
                </a:solidFill>
                <a:latin typeface="Poppins"/>
              </a:rPr>
              <a:t>technology</a:t>
            </a:r>
            <a:r>
              <a:rPr i="0" sz="1350" b="0">
                <a:solidFill>
                  <a:srgbClr val="4B5563"/>
                </a:solidFill>
                <a:latin typeface="Poppins"/>
              </a:rPr>
              <a:t> in your operations.</a:t>
            </a:r>
          </a:p>
        </p:txBody>
      </p:sp>
      <p:sp>
        <p:nvSpPr>
          <p:cNvPr id="6" name="Rounded Rectangle 5"/>
          <p:cNvSpPr/>
          <p:nvPr/>
        </p:nvSpPr>
        <p:spPr>
          <a:xfrm>
            <a:off x="6400800" y="3059906"/>
            <a:ext cx="457200" cy="457200"/>
          </a:xfrm>
          <a:prstGeom prst="roundRect">
            <a:avLst>
              <a:gd name="adj" fmla="val 16666"/>
            </a:avLst>
          </a:prstGeom>
          <a:solidFill>
            <a:srgbClr val="9333EA"/>
          </a:solidFill>
          <a:ln>
            <a:noFill/>
          </a:ln>
          <a:effectLst>
            <a:outerShdw blurRad="57150" dir="5400000" dist="381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4a6f7acf-9d2a-4b2a-8d3e-066b109f8c77.png"/>
          <p:cNvPicPr>
            <a:picLocks noChangeAspect="1"/>
          </p:cNvPicPr>
          <p:nvPr/>
        </p:nvPicPr>
        <p:blipFill>
          <a:blip r:embed="rId5"/>
          <a:stretch>
            <a:fillRect/>
          </a:stretch>
        </p:blipFill>
        <p:spPr>
          <a:xfrm>
            <a:off x="6515100" y="3177033"/>
            <a:ext cx="228600" cy="228600"/>
          </a:xfrm>
          <a:prstGeom prst="rect">
            <a:avLst/>
          </a:prstGeom>
        </p:spPr>
      </p:pic>
      <p:sp>
        <p:nvSpPr>
          <p:cNvPr id="8" name="TextBox 7"/>
          <p:cNvSpPr txBox="1"/>
          <p:nvPr/>
        </p:nvSpPr>
        <p:spPr>
          <a:xfrm>
            <a:off x="7010400" y="3059906"/>
            <a:ext cx="443865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12000"/>
              </a:lnSpc>
              <a:defRPr i="0" sz="1500" b="0">
                <a:solidFill>
                  <a:srgbClr val="111827"/>
                </a:solidFill>
                <a:latin typeface="Poppins"/>
              </a:defRPr>
            </a:pPr>
            <a:r>
              <a:rPr i="0" sz="1500" b="0">
                <a:solidFill>
                  <a:srgbClr val="111827"/>
                </a:solidFill>
                <a:latin typeface="Poppins"/>
              </a:rPr>
              <a:t>Quick Wins</a:t>
            </a:r>
          </a:p>
        </p:txBody>
      </p:sp>
      <p:sp>
        <p:nvSpPr>
          <p:cNvPr id="9" name="Rectangle 8"/>
          <p:cNvSpPr/>
          <p:nvPr/>
        </p:nvSpPr>
        <p:spPr>
          <a:xfrm>
            <a:off x="7010400" y="3402806"/>
            <a:ext cx="457200" cy="1905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7010400" y="3536156"/>
            <a:ext cx="4438650" cy="2476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200" b="0">
                <a:solidFill>
                  <a:srgbClr val="4B5563"/>
                </a:solidFill>
                <a:latin typeface="Poppins"/>
              </a:defRPr>
            </a:pPr>
            <a:r>
              <a:rPr i="0" sz="1200" b="0">
                <a:solidFill>
                  <a:srgbClr val="4B5563"/>
                </a:solidFill>
                <a:latin typeface="Poppins"/>
              </a:rPr>
              <a:t>CRM with </a:t>
            </a:r>
            <a:r>
              <a:rPr i="0" sz="1200" b="1">
                <a:solidFill>
                  <a:srgbClr val="4B5563"/>
                </a:solidFill>
                <a:latin typeface="Poppins"/>
              </a:rPr>
              <a:t>automated follow-up</a:t>
            </a:r>
            <a:r>
              <a:rPr i="0" sz="1200" b="0">
                <a:solidFill>
                  <a:srgbClr val="4B5563"/>
                </a:solidFill>
                <a:latin typeface="Poppins"/>
              </a:rPr>
              <a:t> saves 4 hours weekly.</a:t>
            </a:r>
          </a:p>
        </p:txBody>
      </p:sp>
      <p:sp>
        <p:nvSpPr>
          <p:cNvPr id="11" name="Rounded Rectangle 10"/>
          <p:cNvSpPr/>
          <p:nvPr/>
        </p:nvSpPr>
        <p:spPr>
          <a:xfrm>
            <a:off x="6400800" y="4012406"/>
            <a:ext cx="457200" cy="457200"/>
          </a:xfrm>
          <a:prstGeom prst="roundRect">
            <a:avLst>
              <a:gd name="adj" fmla="val 16666"/>
            </a:avLst>
          </a:prstGeom>
          <a:solidFill>
            <a:srgbClr val="9333EA"/>
          </a:solidFill>
          <a:ln>
            <a:noFill/>
          </a:ln>
          <a:effectLst>
            <a:outerShdw blurRad="57150" dir="5400000" dist="381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7c53f55b-23aa-4cb8-be98-559a62b5cc60.png"/>
          <p:cNvPicPr>
            <a:picLocks noChangeAspect="1"/>
          </p:cNvPicPr>
          <p:nvPr/>
        </p:nvPicPr>
        <p:blipFill>
          <a:blip r:embed="rId6"/>
          <a:stretch>
            <a:fillRect/>
          </a:stretch>
        </p:blipFill>
        <p:spPr>
          <a:xfrm>
            <a:off x="6515100" y="4129533"/>
            <a:ext cx="228600" cy="228600"/>
          </a:xfrm>
          <a:prstGeom prst="rect">
            <a:avLst/>
          </a:prstGeom>
        </p:spPr>
      </p:pic>
      <p:sp>
        <p:nvSpPr>
          <p:cNvPr id="13" name="TextBox 12"/>
          <p:cNvSpPr txBox="1"/>
          <p:nvPr/>
        </p:nvSpPr>
        <p:spPr>
          <a:xfrm>
            <a:off x="7010400" y="4012406"/>
            <a:ext cx="443865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12000"/>
              </a:lnSpc>
              <a:defRPr i="0" sz="1500" b="0">
                <a:solidFill>
                  <a:srgbClr val="111827"/>
                </a:solidFill>
                <a:latin typeface="Poppins"/>
              </a:defRPr>
            </a:pPr>
            <a:r>
              <a:rPr i="0" sz="1500" b="0">
                <a:solidFill>
                  <a:srgbClr val="111827"/>
                </a:solidFill>
                <a:latin typeface="Poppins"/>
              </a:rPr>
              <a:t>AI Integration</a:t>
            </a:r>
          </a:p>
        </p:txBody>
      </p:sp>
      <p:sp>
        <p:nvSpPr>
          <p:cNvPr id="14" name="Rectangle 13"/>
          <p:cNvSpPr/>
          <p:nvPr/>
        </p:nvSpPr>
        <p:spPr>
          <a:xfrm>
            <a:off x="7010400" y="4355306"/>
            <a:ext cx="457200" cy="1905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7010400" y="4488656"/>
            <a:ext cx="4438650" cy="2476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200" b="0">
                <a:solidFill>
                  <a:srgbClr val="4B5563"/>
                </a:solidFill>
                <a:latin typeface="Poppins"/>
              </a:defRPr>
            </a:pPr>
            <a:r>
              <a:rPr i="0" sz="1200" b="1">
                <a:solidFill>
                  <a:srgbClr val="4B5563"/>
                </a:solidFill>
                <a:latin typeface="Poppins"/>
              </a:rPr>
              <a:t>AI intake agent</a:t>
            </a:r>
            <a:r>
              <a:rPr i="0" sz="1200" b="0">
                <a:solidFill>
                  <a:srgbClr val="4B5563"/>
                </a:solidFill>
                <a:latin typeface="Poppins"/>
              </a:rPr>
              <a:t> qualifies enquiries and collects details.</a:t>
            </a:r>
          </a:p>
        </p:txBody>
      </p:sp>
      <p:sp>
        <p:nvSpPr>
          <p:cNvPr id="16" name="Rounded Rectangle 15"/>
          <p:cNvSpPr/>
          <p:nvPr/>
        </p:nvSpPr>
        <p:spPr>
          <a:xfrm>
            <a:off x="6400800" y="4964906"/>
            <a:ext cx="457200" cy="457200"/>
          </a:xfrm>
          <a:prstGeom prst="roundRect">
            <a:avLst>
              <a:gd name="adj" fmla="val 16666"/>
            </a:avLst>
          </a:prstGeom>
          <a:solidFill>
            <a:srgbClr val="9333EA"/>
          </a:solidFill>
          <a:ln>
            <a:noFill/>
          </a:ln>
          <a:effectLst>
            <a:outerShdw blurRad="57150" dir="5400000" dist="381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b91c7d31-205d-4b90-89d3-246b32ccbfdf.png"/>
          <p:cNvPicPr>
            <a:picLocks noChangeAspect="1"/>
          </p:cNvPicPr>
          <p:nvPr/>
        </p:nvPicPr>
        <p:blipFill>
          <a:blip r:embed="rId7"/>
          <a:stretch>
            <a:fillRect/>
          </a:stretch>
        </p:blipFill>
        <p:spPr>
          <a:xfrm>
            <a:off x="6515100" y="5082033"/>
            <a:ext cx="228600" cy="228600"/>
          </a:xfrm>
          <a:prstGeom prst="rect">
            <a:avLst/>
          </a:prstGeom>
        </p:spPr>
      </p:pic>
      <p:sp>
        <p:nvSpPr>
          <p:cNvPr id="18" name="TextBox 17"/>
          <p:cNvSpPr txBox="1"/>
          <p:nvPr/>
        </p:nvSpPr>
        <p:spPr>
          <a:xfrm>
            <a:off x="7010400" y="4964906"/>
            <a:ext cx="443865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12000"/>
              </a:lnSpc>
              <a:defRPr i="0" sz="1500" b="0">
                <a:solidFill>
                  <a:srgbClr val="111827"/>
                </a:solidFill>
                <a:latin typeface="Poppins"/>
              </a:defRPr>
            </a:pPr>
            <a:r>
              <a:rPr i="0" sz="1500" b="0">
                <a:solidFill>
                  <a:srgbClr val="111827"/>
                </a:solidFill>
                <a:latin typeface="Poppins"/>
              </a:rPr>
              <a:t>Automation</a:t>
            </a:r>
          </a:p>
        </p:txBody>
      </p:sp>
      <p:sp>
        <p:nvSpPr>
          <p:cNvPr id="19" name="Rectangle 18"/>
          <p:cNvSpPr/>
          <p:nvPr/>
        </p:nvSpPr>
        <p:spPr>
          <a:xfrm>
            <a:off x="7010400" y="5307806"/>
            <a:ext cx="457200" cy="1905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7010400" y="5441156"/>
            <a:ext cx="4438650" cy="2476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200" b="0">
                <a:solidFill>
                  <a:srgbClr val="4B5563"/>
                </a:solidFill>
                <a:latin typeface="Poppins"/>
              </a:defRPr>
            </a:pPr>
            <a:r>
              <a:rPr i="0" sz="1200" b="1">
                <a:solidFill>
                  <a:srgbClr val="4B5563"/>
                </a:solidFill>
                <a:latin typeface="Poppins"/>
              </a:rPr>
              <a:t>End-to-end automation</a:t>
            </a:r>
            <a:r>
              <a:rPr i="0" sz="1200" b="0">
                <a:solidFill>
                  <a:srgbClr val="4B5563"/>
                </a:solidFill>
                <a:latin typeface="Poppins"/>
              </a:rPr>
              <a:t> updates pipelines efficiently.</a:t>
            </a:r>
          </a:p>
        </p:txBody>
      </p:sp>
      <p:sp>
        <p:nvSpPr>
          <p:cNvPr id="21" name="Rounded Rectangle 20"/>
          <p:cNvSpPr/>
          <p:nvPr/>
        </p:nvSpPr>
        <p:spPr>
          <a:xfrm>
            <a:off x="1143000" y="2419350"/>
            <a:ext cx="4267200" cy="3048000"/>
          </a:xfrm>
          <a:prstGeom prst="roundRect">
            <a:avLst>
              <a:gd name="adj" fmla="val 5000"/>
            </a:avLst>
          </a:prstGeom>
          <a:solidFill>
            <a:srgbClr val="FFFFFF"/>
          </a:solidFill>
          <a:ln>
            <a:noFill/>
          </a:ln>
          <a:effectLst>
            <a:outerShdw blurRad="142875" dir="5400000" dist="9525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2292415b-7a87-418d-9e9a-8b363c74099a.png"/>
          <p:cNvPicPr>
            <a:picLocks noChangeAspect="1"/>
          </p:cNvPicPr>
          <p:nvPr/>
        </p:nvPicPr>
        <p:blipFill>
          <a:blip r:embed="rId8"/>
          <a:stretch>
            <a:fillRect/>
          </a:stretch>
        </p:blipFill>
        <p:spPr>
          <a:xfrm>
            <a:off x="1143000" y="2419350"/>
            <a:ext cx="4267200" cy="304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457200"/>
            <a:ext cx="733425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4500" b="1">
                <a:solidFill>
                  <a:srgbClr val="111827"/>
                </a:solidFill>
                <a:latin typeface="Poppins"/>
              </a:defRPr>
            </a:pPr>
            <a:r>
              <a:rPr i="0" sz="4500" b="1">
                <a:solidFill>
                  <a:srgbClr val="111827"/>
                </a:solidFill>
                <a:latin typeface="Poppins"/>
              </a:rPr>
              <a:t>Implementation Roadmap</a:t>
            </a:r>
          </a:p>
        </p:txBody>
      </p:sp>
      <p:sp>
        <p:nvSpPr>
          <p:cNvPr id="3" name="Rectangle 2"/>
          <p:cNvSpPr/>
          <p:nvPr/>
        </p:nvSpPr>
        <p:spPr>
          <a:xfrm>
            <a:off x="762000" y="1752600"/>
            <a:ext cx="9144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4" name="Picture 3" descr="032c1462-c588-418b-ad51-666f4e152447.png"/>
          <p:cNvPicPr>
            <a:picLocks noChangeAspect="1"/>
          </p:cNvPicPr>
          <p:nvPr/>
        </p:nvPicPr>
        <p:blipFill>
          <a:blip r:embed="rId3"/>
          <a:stretch>
            <a:fillRect/>
          </a:stretch>
        </p:blipFill>
        <p:spPr>
          <a:xfrm>
            <a:off x="8382000" y="457200"/>
            <a:ext cx="3048000" cy="1828800"/>
          </a:xfrm>
          <a:prstGeom prst="rect">
            <a:avLst/>
          </a:prstGeom>
        </p:spPr>
      </p:pic>
      <p:sp>
        <p:nvSpPr>
          <p:cNvPr id="5" name="TextBox 4"/>
          <p:cNvSpPr txBox="1"/>
          <p:nvPr/>
        </p:nvSpPr>
        <p:spPr>
          <a:xfrm>
            <a:off x="762000" y="2590800"/>
            <a:ext cx="48919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1">
                <a:solidFill>
                  <a:srgbClr val="111827"/>
                </a:solidFill>
                <a:latin typeface="Poppins"/>
              </a:defRPr>
            </a:pPr>
            <a:r>
              <a:rPr i="0" sz="3600" b="1">
                <a:solidFill>
                  <a:srgbClr val="111827"/>
                </a:solidFill>
                <a:latin typeface="Poppins"/>
              </a:rPr>
              <a:t>01</a:t>
            </a:r>
          </a:p>
        </p:txBody>
      </p:sp>
      <p:sp>
        <p:nvSpPr>
          <p:cNvPr id="6" name="TextBox 5"/>
          <p:cNvSpPr txBox="1"/>
          <p:nvPr/>
        </p:nvSpPr>
        <p:spPr>
          <a:xfrm>
            <a:off x="1384548" y="2667000"/>
            <a:ext cx="4578101"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6667"/>
              </a:lnSpc>
              <a:defRPr i="0" sz="1800" b="1">
                <a:solidFill>
                  <a:srgbClr val="111827"/>
                </a:solidFill>
                <a:latin typeface="Poppins"/>
              </a:defRPr>
            </a:pPr>
            <a:r>
              <a:rPr i="0" sz="1800" b="1">
                <a:solidFill>
                  <a:srgbClr val="111827"/>
                </a:solidFill>
                <a:latin typeface="Poppins"/>
              </a:rPr>
              <a:t>Weeks 1-2: Initial Setup</a:t>
            </a:r>
          </a:p>
        </p:txBody>
      </p:sp>
      <p:sp>
        <p:nvSpPr>
          <p:cNvPr id="7" name="TextBox 6"/>
          <p:cNvSpPr txBox="1"/>
          <p:nvPr/>
        </p:nvSpPr>
        <p:spPr>
          <a:xfrm>
            <a:off x="1384548" y="3086100"/>
            <a:ext cx="4578101"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200" b="0">
                <a:solidFill>
                  <a:srgbClr val="4B5563"/>
                </a:solidFill>
                <a:latin typeface="Poppins"/>
              </a:defRPr>
            </a:pPr>
            <a:r>
              <a:rPr i="0" sz="1200" b="0">
                <a:solidFill>
                  <a:srgbClr val="4B5563"/>
                </a:solidFill>
                <a:latin typeface="Poppins"/>
              </a:rPr>
              <a:t>Audit processes, configure </a:t>
            </a:r>
            <a:r>
              <a:rPr i="0" sz="1200" b="1">
                <a:solidFill>
                  <a:srgbClr val="4B5563"/>
                </a:solidFill>
                <a:latin typeface="Poppins"/>
              </a:rPr>
              <a:t>HubSpot CRM</a:t>
            </a:r>
            <a:r>
              <a:rPr i="0" sz="1200" b="0">
                <a:solidFill>
                  <a:srgbClr val="4B5563"/>
                </a:solidFill>
                <a:latin typeface="Poppins"/>
              </a:rPr>
              <a:t>, and deploy web forms.</a:t>
            </a:r>
          </a:p>
        </p:txBody>
      </p:sp>
      <p:sp>
        <p:nvSpPr>
          <p:cNvPr id="8" name="TextBox 7"/>
          <p:cNvSpPr txBox="1"/>
          <p:nvPr/>
        </p:nvSpPr>
        <p:spPr>
          <a:xfrm>
            <a:off x="6248400" y="2590800"/>
            <a:ext cx="578346"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1">
                <a:solidFill>
                  <a:srgbClr val="111827"/>
                </a:solidFill>
                <a:latin typeface="Poppins"/>
              </a:defRPr>
            </a:pPr>
            <a:r>
              <a:rPr i="0" sz="3600" b="1">
                <a:solidFill>
                  <a:srgbClr val="111827"/>
                </a:solidFill>
                <a:latin typeface="Poppins"/>
              </a:rPr>
              <a:t>02</a:t>
            </a:r>
          </a:p>
        </p:txBody>
      </p:sp>
      <p:sp>
        <p:nvSpPr>
          <p:cNvPr id="9" name="TextBox 8"/>
          <p:cNvSpPr txBox="1"/>
          <p:nvPr/>
        </p:nvSpPr>
        <p:spPr>
          <a:xfrm>
            <a:off x="6960096" y="2667000"/>
            <a:ext cx="4488953"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6667"/>
              </a:lnSpc>
              <a:defRPr i="0" sz="1800" b="1">
                <a:solidFill>
                  <a:srgbClr val="111827"/>
                </a:solidFill>
                <a:latin typeface="Poppins"/>
              </a:defRPr>
            </a:pPr>
            <a:r>
              <a:rPr i="0" sz="1800" b="1">
                <a:solidFill>
                  <a:srgbClr val="111827"/>
                </a:solidFill>
                <a:latin typeface="Poppins"/>
              </a:rPr>
              <a:t>Weeks 3-4: Automation</a:t>
            </a:r>
          </a:p>
        </p:txBody>
      </p:sp>
      <p:sp>
        <p:nvSpPr>
          <p:cNvPr id="10" name="TextBox 9"/>
          <p:cNvSpPr txBox="1"/>
          <p:nvPr/>
        </p:nvSpPr>
        <p:spPr>
          <a:xfrm>
            <a:off x="6960096" y="3086100"/>
            <a:ext cx="4488953"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200" b="0">
                <a:solidFill>
                  <a:srgbClr val="4B5563"/>
                </a:solidFill>
                <a:latin typeface="Poppins"/>
              </a:defRPr>
            </a:pPr>
            <a:r>
              <a:rPr i="0" sz="1200" b="0">
                <a:solidFill>
                  <a:srgbClr val="4B5563"/>
                </a:solidFill>
                <a:latin typeface="Poppins"/>
              </a:rPr>
              <a:t>Build automated email sequences and connect forms via </a:t>
            </a:r>
            <a:r>
              <a:rPr i="0" sz="1200" b="1">
                <a:solidFill>
                  <a:srgbClr val="4B5563"/>
                </a:solidFill>
                <a:latin typeface="Poppins"/>
              </a:rPr>
              <a:t>Zapier</a:t>
            </a:r>
            <a:r>
              <a:rPr i="0" sz="1200" b="0">
                <a:solidFill>
                  <a:srgbClr val="4B5563"/>
                </a:solidFill>
                <a:latin typeface="Poppins"/>
              </a:rPr>
              <a:t>.</a:t>
            </a:r>
          </a:p>
        </p:txBody>
      </p:sp>
      <p:sp>
        <p:nvSpPr>
          <p:cNvPr id="11" name="TextBox 10"/>
          <p:cNvSpPr txBox="1"/>
          <p:nvPr/>
        </p:nvSpPr>
        <p:spPr>
          <a:xfrm>
            <a:off x="762000" y="3886200"/>
            <a:ext cx="593824"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1">
                <a:solidFill>
                  <a:srgbClr val="111827"/>
                </a:solidFill>
                <a:latin typeface="Poppins"/>
              </a:defRPr>
            </a:pPr>
            <a:r>
              <a:rPr i="0" sz="3600" b="1">
                <a:solidFill>
                  <a:srgbClr val="111827"/>
                </a:solidFill>
                <a:latin typeface="Poppins"/>
              </a:rPr>
              <a:t>03</a:t>
            </a:r>
          </a:p>
        </p:txBody>
      </p:sp>
      <p:sp>
        <p:nvSpPr>
          <p:cNvPr id="12" name="TextBox 11"/>
          <p:cNvSpPr txBox="1"/>
          <p:nvPr/>
        </p:nvSpPr>
        <p:spPr>
          <a:xfrm>
            <a:off x="1489174" y="3962400"/>
            <a:ext cx="447347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6667"/>
              </a:lnSpc>
              <a:defRPr i="0" sz="1800" b="1">
                <a:solidFill>
                  <a:srgbClr val="111827"/>
                </a:solidFill>
                <a:latin typeface="Poppins"/>
              </a:defRPr>
            </a:pPr>
            <a:r>
              <a:rPr i="0" sz="1800" b="1">
                <a:solidFill>
                  <a:srgbClr val="111827"/>
                </a:solidFill>
                <a:latin typeface="Poppins"/>
              </a:rPr>
              <a:t>Weeks 5-8: AI </a:t>
            </a:r>
            <a:r>
              <a:rPr i="0" sz="1800" b="1">
                <a:solidFill>
                  <a:srgbClr val="111827"/>
                </a:solidFill>
                <a:latin typeface="Poppins"/>
              </a:rPr>
              <a:t>&amp;</a:t>
            </a:r>
            <a:r>
              <a:rPr i="0" sz="1800" b="1">
                <a:solidFill>
                  <a:srgbClr val="111827"/>
                </a:solidFill>
                <a:latin typeface="Poppins"/>
              </a:rPr>
              <a:t> Knowledge</a:t>
            </a:r>
          </a:p>
        </p:txBody>
      </p:sp>
      <p:sp>
        <p:nvSpPr>
          <p:cNvPr id="13" name="TextBox 12"/>
          <p:cNvSpPr txBox="1"/>
          <p:nvPr/>
        </p:nvSpPr>
        <p:spPr>
          <a:xfrm>
            <a:off x="1489174" y="4381500"/>
            <a:ext cx="447347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0000"/>
              </a:lnSpc>
              <a:defRPr i="0" sz="1200" b="0">
                <a:solidFill>
                  <a:srgbClr val="4B5563"/>
                </a:solidFill>
                <a:latin typeface="Poppins"/>
              </a:defRPr>
            </a:pPr>
            <a:r>
              <a:rPr i="0" sz="1200" b="0">
                <a:solidFill>
                  <a:srgbClr val="4B5563"/>
                </a:solidFill>
                <a:latin typeface="Poppins"/>
              </a:rPr>
              <a:t>Deploy </a:t>
            </a:r>
            <a:r>
              <a:rPr i="0" sz="1200" b="1">
                <a:solidFill>
                  <a:srgbClr val="4B5563"/>
                </a:solidFill>
                <a:latin typeface="Poppins"/>
              </a:rPr>
              <a:t>AI chatbot</a:t>
            </a:r>
            <a:r>
              <a:rPr i="0" sz="1200" b="0">
                <a:solidFill>
                  <a:srgbClr val="4B5563"/>
                </a:solidFill>
                <a:latin typeface="Poppins"/>
              </a:rPr>
              <a:t> for intake and create a centralised knowledge base.</a:t>
            </a:r>
          </a:p>
        </p:txBody>
      </p:sp>
      <p:pic>
        <p:nvPicPr>
          <p:cNvPr id="14" name="Picture 13" descr="3362d953-52fd-4481-8944-52fa12aa469b.png"/>
          <p:cNvPicPr>
            <a:picLocks noChangeAspect="1"/>
          </p:cNvPicPr>
          <p:nvPr/>
        </p:nvPicPr>
        <p:blipFill>
          <a:blip r:embed="rId4"/>
          <a:stretch>
            <a:fillRect/>
          </a:stretch>
        </p:blipFill>
        <p:spPr>
          <a:xfrm>
            <a:off x="0" y="6096000"/>
            <a:ext cx="12192000" cy="76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0ccfb3ea-8c65-40bc-ba6d-fae4e26f77f1.png"/>
          <p:cNvPicPr>
            <a:picLocks noChangeAspect="1"/>
          </p:cNvPicPr>
          <p:nvPr/>
        </p:nvPicPr>
        <p:blipFill>
          <a:blip r:embed="rId3"/>
          <a:stretch>
            <a:fillRect/>
          </a:stretch>
        </p:blipFill>
        <p:spPr>
          <a:xfrm>
            <a:off x="0" y="0"/>
            <a:ext cx="2438400" cy="6858000"/>
          </a:xfrm>
          <a:prstGeom prst="rect">
            <a:avLst/>
          </a:prstGeom>
        </p:spPr>
      </p:pic>
      <p:pic>
        <p:nvPicPr>
          <p:cNvPr id="3" name="Picture 2" descr="ede62987-b721-438c-9763-9f171cfd845b.png"/>
          <p:cNvPicPr>
            <a:picLocks noChangeAspect="1"/>
          </p:cNvPicPr>
          <p:nvPr/>
        </p:nvPicPr>
        <p:blipFill>
          <a:blip r:embed="rId4"/>
          <a:stretch>
            <a:fillRect/>
          </a:stretch>
        </p:blipFill>
        <p:spPr>
          <a:xfrm>
            <a:off x="9753600" y="0"/>
            <a:ext cx="2438400" cy="6858000"/>
          </a:xfrm>
          <a:prstGeom prst="rect">
            <a:avLst/>
          </a:prstGeom>
        </p:spPr>
      </p:pic>
      <p:sp>
        <p:nvSpPr>
          <p:cNvPr id="4" name="TextBox 3"/>
          <p:cNvSpPr txBox="1"/>
          <p:nvPr/>
        </p:nvSpPr>
        <p:spPr>
          <a:xfrm>
            <a:off x="762000" y="1866900"/>
            <a:ext cx="10687050" cy="5715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80000"/>
              </a:lnSpc>
              <a:defRPr i="0" sz="4500" b="1">
                <a:solidFill>
                  <a:srgbClr val="111827"/>
                </a:solidFill>
                <a:latin typeface="Poppins"/>
              </a:defRPr>
            </a:pPr>
            <a:r>
              <a:rPr i="0" sz="4500" b="1">
                <a:solidFill>
                  <a:srgbClr val="111827"/>
                </a:solidFill>
                <a:latin typeface="Poppins"/>
              </a:rPr>
              <a:t>Financial Impact and Tools</a:t>
            </a:r>
          </a:p>
        </p:txBody>
      </p:sp>
      <p:sp>
        <p:nvSpPr>
          <p:cNvPr id="5" name="TextBox 4"/>
          <p:cNvSpPr txBox="1"/>
          <p:nvPr/>
        </p:nvSpPr>
        <p:spPr>
          <a:xfrm>
            <a:off x="762000" y="2895600"/>
            <a:ext cx="3371850" cy="1905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14286"/>
              </a:lnSpc>
              <a:defRPr i="0" sz="1050" b="0">
                <a:solidFill>
                  <a:srgbClr val="FFFFFF"/>
                </a:solidFill>
                <a:latin typeface="Poppins"/>
              </a:defRPr>
            </a:pPr>
            <a:r>
              <a:rPr i="0" sz="1050" b="0">
                <a:solidFill>
                  <a:srgbClr val="FFFFFF"/>
                </a:solidFill>
                <a:latin typeface="Poppins"/>
              </a:rPr>
              <a:t>Net Annual Value</a:t>
            </a:r>
          </a:p>
        </p:txBody>
      </p:sp>
      <p:sp>
        <p:nvSpPr>
          <p:cNvPr id="6" name="TextBox 5"/>
          <p:cNvSpPr txBox="1"/>
          <p:nvPr/>
        </p:nvSpPr>
        <p:spPr>
          <a:xfrm>
            <a:off x="762000" y="3238500"/>
            <a:ext cx="3371850" cy="5715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80000"/>
              </a:lnSpc>
              <a:defRPr i="0" sz="4500" b="1">
                <a:solidFill>
                  <a:srgbClr val="9333EA"/>
                </a:solidFill>
                <a:latin typeface="Poppins"/>
              </a:defRPr>
            </a:pPr>
            <a:r>
              <a:rPr i="0" sz="4500" b="1">
                <a:solidFill>
                  <a:srgbClr val="9333EA"/>
                </a:solidFill>
                <a:latin typeface="Poppins"/>
              </a:rPr>
              <a:t>29,280 AUD</a:t>
            </a:r>
          </a:p>
        </p:txBody>
      </p:sp>
      <p:sp>
        <p:nvSpPr>
          <p:cNvPr id="7" name="Rounded Rectangle 6"/>
          <p:cNvSpPr/>
          <p:nvPr/>
        </p:nvSpPr>
        <p:spPr>
          <a:xfrm>
            <a:off x="762000" y="3962400"/>
            <a:ext cx="3352800" cy="952500"/>
          </a:xfrm>
          <a:prstGeom prst="roundRect">
            <a:avLst>
              <a:gd name="adj" fmla="val 8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ctr"/>
          </a:p>
        </p:txBody>
      </p:sp>
      <p:sp>
        <p:nvSpPr>
          <p:cNvPr id="8" name="TextBox 7"/>
          <p:cNvSpPr txBox="1"/>
          <p:nvPr/>
        </p:nvSpPr>
        <p:spPr>
          <a:xfrm>
            <a:off x="952500" y="4152900"/>
            <a:ext cx="2990850" cy="5715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14286"/>
              </a:lnSpc>
              <a:defRPr i="0" sz="1050" b="0">
                <a:solidFill>
                  <a:srgbClr val="FFFFFF"/>
                </a:solidFill>
                <a:latin typeface="Poppins"/>
              </a:defRPr>
            </a:pPr>
            <a:r>
              <a:rPr i="0" sz="1050" b="0">
                <a:solidFill>
                  <a:srgbClr val="FFFFFF"/>
                </a:solidFill>
                <a:latin typeface="Poppins"/>
              </a:rPr>
              <a:t>Annual savings calculated from </a:t>
            </a:r>
            <a:r>
              <a:rPr i="0" sz="1050" b="1">
                <a:solidFill>
                  <a:srgbClr val="FFFFFF"/>
                </a:solidFill>
                <a:latin typeface="Poppins"/>
              </a:rPr>
              <a:t>8 hours saved weekly</a:t>
            </a:r>
            <a:r>
              <a:rPr i="0" sz="1050" b="0">
                <a:solidFill>
                  <a:srgbClr val="FFFFFF"/>
                </a:solidFill>
                <a:latin typeface="Poppins"/>
              </a:rPr>
              <a:t> after deducting all related software expenses.</a:t>
            </a:r>
          </a:p>
        </p:txBody>
      </p:sp>
      <p:sp>
        <p:nvSpPr>
          <p:cNvPr id="9" name="TextBox 8"/>
          <p:cNvSpPr txBox="1"/>
          <p:nvPr/>
        </p:nvSpPr>
        <p:spPr>
          <a:xfrm>
            <a:off x="4419600" y="2990850"/>
            <a:ext cx="3371850" cy="1905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14286"/>
              </a:lnSpc>
              <a:defRPr i="0" sz="1050" b="0">
                <a:solidFill>
                  <a:srgbClr val="FFFFFF"/>
                </a:solidFill>
                <a:latin typeface="Poppins"/>
              </a:defRPr>
            </a:pPr>
            <a:r>
              <a:rPr i="0" sz="1050" b="0">
                <a:solidFill>
                  <a:srgbClr val="FFFFFF"/>
                </a:solidFill>
                <a:latin typeface="Poppins"/>
              </a:rPr>
              <a:t>Total Monthly Cost</a:t>
            </a:r>
          </a:p>
        </p:txBody>
      </p:sp>
      <p:sp>
        <p:nvSpPr>
          <p:cNvPr id="10" name="TextBox 9"/>
          <p:cNvSpPr txBox="1"/>
          <p:nvPr/>
        </p:nvSpPr>
        <p:spPr>
          <a:xfrm>
            <a:off x="4419600" y="3333750"/>
            <a:ext cx="3371850" cy="5715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80000"/>
              </a:lnSpc>
              <a:defRPr i="0" sz="4500" b="1">
                <a:solidFill>
                  <a:srgbClr val="9333EA"/>
                </a:solidFill>
                <a:latin typeface="Poppins"/>
              </a:defRPr>
            </a:pPr>
            <a:r>
              <a:rPr i="0" sz="4500" b="1">
                <a:solidFill>
                  <a:srgbClr val="9333EA"/>
                </a:solidFill>
                <a:latin typeface="Poppins"/>
              </a:rPr>
              <a:t>120 AUD</a:t>
            </a:r>
          </a:p>
        </p:txBody>
      </p:sp>
      <p:sp>
        <p:nvSpPr>
          <p:cNvPr id="11" name="Rounded Rectangle 10"/>
          <p:cNvSpPr/>
          <p:nvPr/>
        </p:nvSpPr>
        <p:spPr>
          <a:xfrm>
            <a:off x="4419600" y="4057650"/>
            <a:ext cx="3352800" cy="762000"/>
          </a:xfrm>
          <a:prstGeom prst="roundRect">
            <a:avLst>
              <a:gd name="adj" fmla="val 1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ctr"/>
          </a:p>
        </p:txBody>
      </p:sp>
      <p:sp>
        <p:nvSpPr>
          <p:cNvPr id="12" name="TextBox 11"/>
          <p:cNvSpPr txBox="1"/>
          <p:nvPr/>
        </p:nvSpPr>
        <p:spPr>
          <a:xfrm>
            <a:off x="4610100" y="4248150"/>
            <a:ext cx="2990850" cy="3810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14286"/>
              </a:lnSpc>
              <a:defRPr i="0" sz="1050" b="0">
                <a:solidFill>
                  <a:srgbClr val="FFFFFF"/>
                </a:solidFill>
                <a:latin typeface="Poppins"/>
              </a:defRPr>
            </a:pPr>
            <a:r>
              <a:rPr i="0" sz="1050" b="0">
                <a:solidFill>
                  <a:srgbClr val="FFFFFF"/>
                </a:solidFill>
                <a:latin typeface="Poppins"/>
              </a:rPr>
              <a:t>Combined monthly expense for </a:t>
            </a:r>
            <a:r>
              <a:rPr i="0" sz="1050" b="1">
                <a:solidFill>
                  <a:srgbClr val="FFFFFF"/>
                </a:solidFill>
                <a:latin typeface="Poppins"/>
              </a:rPr>
              <a:t>HubSpot CRM</a:t>
            </a:r>
            <a:r>
              <a:rPr i="0" sz="1050" b="0">
                <a:solidFill>
                  <a:srgbClr val="FFFFFF"/>
                </a:solidFill>
                <a:latin typeface="Poppins"/>
              </a:rPr>
              <a:t>, </a:t>
            </a:r>
            <a:r>
              <a:rPr i="0" sz="1050" b="1">
                <a:solidFill>
                  <a:srgbClr val="FFFFFF"/>
                </a:solidFill>
                <a:latin typeface="Poppins"/>
              </a:rPr>
              <a:t>Zapier</a:t>
            </a:r>
            <a:r>
              <a:rPr i="0" sz="1050" b="0">
                <a:solidFill>
                  <a:srgbClr val="FFFFFF"/>
                </a:solidFill>
                <a:latin typeface="Poppins"/>
              </a:rPr>
              <a:t>, </a:t>
            </a:r>
            <a:r>
              <a:rPr i="0" sz="1050" b="1">
                <a:solidFill>
                  <a:srgbClr val="FFFFFF"/>
                </a:solidFill>
                <a:latin typeface="Poppins"/>
              </a:rPr>
              <a:t>Typeform</a:t>
            </a:r>
            <a:r>
              <a:rPr i="0" sz="1050" b="0">
                <a:solidFill>
                  <a:srgbClr val="FFFFFF"/>
                </a:solidFill>
                <a:latin typeface="Poppins"/>
              </a:rPr>
              <a:t>, and </a:t>
            </a:r>
            <a:r>
              <a:rPr i="0" sz="1050" b="1">
                <a:solidFill>
                  <a:srgbClr val="FFFFFF"/>
                </a:solidFill>
                <a:latin typeface="Poppins"/>
              </a:rPr>
              <a:t>Tidio</a:t>
            </a:r>
            <a:r>
              <a:rPr i="0" sz="1050" b="0">
                <a:solidFill>
                  <a:srgbClr val="FFFFFF"/>
                </a:solidFill>
                <a:latin typeface="Poppins"/>
              </a:rPr>
              <a:t>.</a:t>
            </a:r>
          </a:p>
        </p:txBody>
      </p:sp>
      <p:sp>
        <p:nvSpPr>
          <p:cNvPr id="13" name="TextBox 12"/>
          <p:cNvSpPr txBox="1"/>
          <p:nvPr/>
        </p:nvSpPr>
        <p:spPr>
          <a:xfrm>
            <a:off x="8077200" y="2895600"/>
            <a:ext cx="3371850" cy="1905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14286"/>
              </a:lnSpc>
              <a:defRPr i="0" sz="1050" b="0">
                <a:solidFill>
                  <a:srgbClr val="FFFFFF"/>
                </a:solidFill>
                <a:latin typeface="Poppins"/>
              </a:defRPr>
            </a:pPr>
            <a:r>
              <a:rPr i="0" sz="1050" b="0">
                <a:solidFill>
                  <a:srgbClr val="FFFFFF"/>
                </a:solidFill>
                <a:latin typeface="Poppins"/>
              </a:rPr>
              <a:t>Gross Annual Value</a:t>
            </a:r>
          </a:p>
        </p:txBody>
      </p:sp>
      <p:sp>
        <p:nvSpPr>
          <p:cNvPr id="14" name="TextBox 13"/>
          <p:cNvSpPr txBox="1"/>
          <p:nvPr/>
        </p:nvSpPr>
        <p:spPr>
          <a:xfrm>
            <a:off x="8077200" y="3238500"/>
            <a:ext cx="3371850" cy="5715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80000"/>
              </a:lnSpc>
              <a:defRPr i="0" sz="4500" b="1">
                <a:solidFill>
                  <a:srgbClr val="9333EA"/>
                </a:solidFill>
                <a:latin typeface="Poppins"/>
              </a:defRPr>
            </a:pPr>
            <a:r>
              <a:rPr i="0" sz="4500" b="1">
                <a:solidFill>
                  <a:srgbClr val="9333EA"/>
                </a:solidFill>
                <a:latin typeface="Poppins"/>
              </a:rPr>
              <a:t>30,720 AUD</a:t>
            </a:r>
          </a:p>
        </p:txBody>
      </p:sp>
      <p:sp>
        <p:nvSpPr>
          <p:cNvPr id="15" name="Rounded Rectangle 14"/>
          <p:cNvSpPr/>
          <p:nvPr/>
        </p:nvSpPr>
        <p:spPr>
          <a:xfrm>
            <a:off x="8077200" y="3962400"/>
            <a:ext cx="3352800" cy="952500"/>
          </a:xfrm>
          <a:prstGeom prst="roundRect">
            <a:avLst>
              <a:gd name="adj" fmla="val 8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90500" rIns="190500" tIns="190500" bIns="190500"/>
          <a:lstStyle/>
          <a:p>
            <a:pPr algn="ctr"/>
          </a:p>
        </p:txBody>
      </p:sp>
      <p:sp>
        <p:nvSpPr>
          <p:cNvPr id="16" name="TextBox 15"/>
          <p:cNvSpPr txBox="1"/>
          <p:nvPr/>
        </p:nvSpPr>
        <p:spPr>
          <a:xfrm>
            <a:off x="8267700" y="4152900"/>
            <a:ext cx="2990850" cy="571500"/>
          </a:xfrm>
          <a:prstGeom prst="rect">
            <a:avLst/>
          </a:prstGeom>
          <a:noFill/>
          <a:ln>
            <a:noFill/>
          </a:ln>
          <a:effectLst>
            <a:outerShdw blurRad="0" dist="0" dir="0">
              <a:srgbClr val="000000">
                <a:alpha val="0"/>
              </a:srgbClr>
            </a:outerShdw>
          </a:effectLst>
        </p:spPr>
        <p:txBody>
          <a:bodyPr wrap="square" lIns="0" rIns="0" tIns="0" bIns="0">
            <a:spAutoFit/>
          </a:bodyPr>
          <a:lstStyle/>
          <a:p>
            <a:pPr algn="ctr">
              <a:lnSpc>
                <a:spcPct val="114286"/>
              </a:lnSpc>
              <a:defRPr i="0" sz="1050" b="0">
                <a:solidFill>
                  <a:srgbClr val="FFFFFF"/>
                </a:solidFill>
                <a:latin typeface="Poppins"/>
              </a:defRPr>
            </a:pPr>
            <a:r>
              <a:rPr i="0" sz="1050" b="0">
                <a:solidFill>
                  <a:srgbClr val="FFFFFF"/>
                </a:solidFill>
                <a:latin typeface="Poppins"/>
              </a:rPr>
              <a:t>Total financial impact generated from </a:t>
            </a:r>
            <a:r>
              <a:rPr i="0" sz="1050" b="1">
                <a:solidFill>
                  <a:srgbClr val="FFFFFF"/>
                </a:solidFill>
                <a:latin typeface="Poppins"/>
              </a:rPr>
              <a:t>8 hours saved weekly</a:t>
            </a:r>
            <a:r>
              <a:rPr i="0" sz="1050" b="0">
                <a:solidFill>
                  <a:srgbClr val="FFFFFF"/>
                </a:solidFill>
                <a:latin typeface="Poppins"/>
              </a:rPr>
              <a:t> before subtracting tool costs.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