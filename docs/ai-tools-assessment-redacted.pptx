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Montserrat"/>
      <p:regular r:id="rId15"/>
    </p:embeddedFont>
    <p:embeddedFont>
      <p:font typeface="Montserrat"/>
      <p:regular r:id="rId16"/>
    </p:embeddedFont>
    <p:embeddedFont>
      <p:font typeface="Montserrat"/>
      <p:regular r:id="rId17"/>
    </p:embeddedFont>
    <p:embeddedFont>
      <p:font typeface="Montserrat"/>
      <p:regular r:id="rId18"/>
    </p:embeddedFont>
    <p:embeddedFont>
      <p:font typeface="Source Sans 3"/>
      <p:regular r:id="rId19"/>
    </p:embeddedFont>
    <p:embeddedFont>
      <p:font typeface="Source Sans 3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0" Type="http://schemas.openxmlformats.org/officeDocument/2006/relationships/hyperlink" Target="http://Fireflies.ai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#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6135" y="3069669"/>
            <a:ext cx="5998012" cy="70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Tools Assessment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8567" y="4141351"/>
            <a:ext cx="12793266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Prepared for XXXXXX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18567" y="4789408"/>
            <a:ext cx="12793266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Assessment Date: 2025-12-23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4677" y="889040"/>
            <a:ext cx="4561046" cy="545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341602" y="1828809"/>
            <a:ext cx="9947196" cy="31552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570101" y="2084189"/>
            <a:ext cx="3490198" cy="43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Pain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341602" y="2744152"/>
            <a:ext cx="9947196" cy="511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 marketing reporting, lost meeting action items, and design task interruptions are consuming valuable time and creating friction in an otherwise well-run business.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70101" y="3479721"/>
            <a:ext cx="3490198" cy="43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Outcome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341602" y="4139684"/>
            <a:ext cx="9947196" cy="511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Targeted tool additions and better process automation can return </a:t>
            </a:r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8+ hours per week</a:t>
            </a:r>
            <a:pPr algn="ctr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by eliminating manual steps and protecting strategic focus time.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34163" y="4875252"/>
            <a:ext cx="5162074" cy="43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Opportunity at a Glance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2341602" y="5535216"/>
            <a:ext cx="9947196" cy="1381482"/>
          </a:xfrm>
          <a:prstGeom prst="roundRect">
            <a:avLst>
              <a:gd name="adj" fmla="val 2084"/>
            </a:avLst>
          </a:prstGeom>
          <a:solidFill>
            <a:srgbClr val="303132"/>
          </a:solidFill>
          <a:ln/>
        </p:spPr>
      </p:sp>
      <p:sp>
        <p:nvSpPr>
          <p:cNvPr id="10" name="Shape 8"/>
          <p:cNvSpPr/>
          <p:nvPr/>
        </p:nvSpPr>
        <p:spPr>
          <a:xfrm>
            <a:off x="7027307" y="5727144"/>
            <a:ext cx="575786" cy="575786"/>
          </a:xfrm>
          <a:prstGeom prst="roundRect">
            <a:avLst>
              <a:gd name="adj" fmla="val 15879312"/>
            </a:avLst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85660" y="5885498"/>
            <a:ext cx="259080" cy="259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30215" y="6452116"/>
            <a:ext cx="3569851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Hours You Can Reclaim Weekly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341602" y="7084576"/>
            <a:ext cx="9947196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Primary Focus: Efficiency (Time Savings)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8078" y="822365"/>
            <a:ext cx="3474125" cy="406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Impact-Effort Matrix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3606998" y="1466317"/>
            <a:ext cx="7416284" cy="25479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06998" y="1584960"/>
            <a:ext cx="7416284" cy="33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Your pain points have been analyzed and placed into four quadrants based on their business impact and implementation effort. This report focuses on Quick Wins — the fixes that deliver the highest value with the least effort.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6998" y="2017276"/>
            <a:ext cx="7416284" cy="37117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40411" y="3726609"/>
            <a:ext cx="1392841" cy="189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Low Effort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559103" y="5422513"/>
            <a:ext cx="1515317" cy="189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Low Impact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589620" y="3726609"/>
            <a:ext cx="1392841" cy="189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 Effort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54936" y="2179110"/>
            <a:ext cx="1515316" cy="189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 Impact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685220" y="4688933"/>
            <a:ext cx="1429885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Ignore these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2914" y="4139182"/>
            <a:ext cx="207444" cy="2074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8533" y="4696342"/>
            <a:ext cx="1429885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Fill-ins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9754" y="4143581"/>
            <a:ext cx="207445" cy="2074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48533" y="3325727"/>
            <a:ext cx="1429885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Major Projects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9754" y="2772966"/>
            <a:ext cx="207445" cy="2074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40767" y="3325727"/>
            <a:ext cx="1429885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Quick Wins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51988" y="2772966"/>
            <a:ext cx="207445" cy="2074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774883" y="5853470"/>
            <a:ext cx="5080516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Quick Wins (High Impact, Low Effort)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3606998" y="6303169"/>
            <a:ext cx="7416284" cy="110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 marketing reporting across multiple platforms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Implement DashThis to auto-pull all marketing data into one dashboard</a:t>
            </a:r>
            <a:endParaRPr lang="en-US" sz="11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consistent meeting notes or action item capture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Set up </a:t>
            </a:r>
            <a:pPr algn="l" indent="0" marL="0">
              <a:lnSpc>
                <a:spcPts val="1300"/>
              </a:lnSpc>
              <a:buNone/>
            </a:pPr>
            <a:r>
              <a:rPr lang="en-US" sz="1100" u="sng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Fathom to auto-join meetings and extract action items</a:t>
            </a:r>
            <a:endParaRPr lang="en-US" sz="11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 overload with noise and sales outreach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Deploy SaneBox to auto-filter unimportant emails to SaneLater folder</a:t>
            </a:r>
            <a:endParaRPr lang="en-US" sz="11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Low-level design tasks pulling from strategic work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Train XXXXX on Canva's Magic Design AI and create brand kit templates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1040" y="515064"/>
            <a:ext cx="370820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Recommended Solutions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6824" y="989052"/>
            <a:ext cx="6396633" cy="1635085"/>
          </a:xfrm>
          <a:prstGeom prst="roundRect">
            <a:avLst>
              <a:gd name="adj" fmla="val 1132"/>
            </a:avLst>
          </a:prstGeom>
          <a:solidFill>
            <a:srgbClr val="111213"/>
          </a:solidFill>
          <a:ln w="15240">
            <a:solidFill>
              <a:srgbClr val="494A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32064" y="1004292"/>
            <a:ext cx="493752" cy="1604605"/>
          </a:xfrm>
          <a:prstGeom prst="roundRect">
            <a:avLst>
              <a:gd name="adj" fmla="val 46"/>
            </a:avLst>
          </a:prstGeom>
          <a:solidFill>
            <a:srgbClr val="303132"/>
          </a:solidFill>
          <a:ln/>
        </p:spPr>
      </p:sp>
      <p:sp>
        <p:nvSpPr>
          <p:cNvPr id="5" name="Text 3"/>
          <p:cNvSpPr/>
          <p:nvPr/>
        </p:nvSpPr>
        <p:spPr>
          <a:xfrm>
            <a:off x="4286369" y="1690807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687491" y="1127641"/>
            <a:ext cx="4567238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consistent meeting notes or action item capture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87491" y="1375053"/>
            <a:ext cx="5687378" cy="13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Recommended Tool: Fathom.ai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87491" y="1550908"/>
            <a:ext cx="5687378" cy="277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This Fits: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Automatically joins meetings, captures transcripts, and extracts action items so nothing is lost after calls. Integrates with Asana for task handoff.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87491" y="1865590"/>
            <a:ext cx="5687378" cy="619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Complexity: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plug-and-play</a:t>
            </a:r>
            <a:endParaRPr lang="en-US" sz="9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Monthly Cost: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$0-10/user</a:t>
            </a:r>
            <a:endParaRPr lang="en-US" sz="9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Setup Time: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15 minutes</a:t>
            </a:r>
            <a:endParaRPr lang="en-US" sz="9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 Saved: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2 hours/week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6824" y="2685812"/>
            <a:ext cx="6396633" cy="1635085"/>
          </a:xfrm>
          <a:prstGeom prst="roundRect">
            <a:avLst>
              <a:gd name="adj" fmla="val 1132"/>
            </a:avLst>
          </a:prstGeom>
          <a:solidFill>
            <a:srgbClr val="111213"/>
          </a:solidFill>
          <a:ln w="15240">
            <a:solidFill>
              <a:srgbClr val="494A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32064" y="2701052"/>
            <a:ext cx="493752" cy="1604605"/>
          </a:xfrm>
          <a:prstGeom prst="roundRect">
            <a:avLst>
              <a:gd name="adj" fmla="val 46"/>
            </a:avLst>
          </a:prstGeom>
          <a:solidFill>
            <a:srgbClr val="303132"/>
          </a:solidFill>
          <a:ln/>
        </p:spPr>
      </p:sp>
      <p:sp>
        <p:nvSpPr>
          <p:cNvPr id="12" name="Text 10"/>
          <p:cNvSpPr/>
          <p:nvPr/>
        </p:nvSpPr>
        <p:spPr>
          <a:xfrm>
            <a:off x="4286369" y="3387566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87491" y="2824401"/>
            <a:ext cx="3984546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Email overload with noise and sales outreach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7491" y="3071812"/>
            <a:ext cx="5687378" cy="13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Recommended Tool: SaneBox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87491" y="3247668"/>
            <a:ext cx="5687378" cy="277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This Fits: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Learns which emails matter and moves the rest to SaneLater, dramatically reducing inbox clutter without changing workflow.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87491" y="3562350"/>
            <a:ext cx="5687378" cy="619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Complexity: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plug-and-play</a:t>
            </a:r>
            <a:endParaRPr lang="en-US" sz="9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Monthly Cost: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$7</a:t>
            </a:r>
            <a:endParaRPr lang="en-US" sz="9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Setup Time: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10 minutes</a:t>
            </a:r>
            <a:endParaRPr lang="en-US" sz="9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 Saved: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3 hours/week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6824" y="4382572"/>
            <a:ext cx="6396633" cy="1635085"/>
          </a:xfrm>
          <a:prstGeom prst="roundRect">
            <a:avLst>
              <a:gd name="adj" fmla="val 1132"/>
            </a:avLst>
          </a:prstGeom>
          <a:solidFill>
            <a:srgbClr val="111213"/>
          </a:solidFill>
          <a:ln w="15240">
            <a:solidFill>
              <a:srgbClr val="494A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32064" y="4397812"/>
            <a:ext cx="493752" cy="1604605"/>
          </a:xfrm>
          <a:prstGeom prst="roundRect">
            <a:avLst>
              <a:gd name="adj" fmla="val 46"/>
            </a:avLst>
          </a:prstGeom>
          <a:solidFill>
            <a:srgbClr val="303132"/>
          </a:solidFill>
          <a:ln/>
        </p:spPr>
      </p:sp>
      <p:sp>
        <p:nvSpPr>
          <p:cNvPr id="19" name="Text 17"/>
          <p:cNvSpPr/>
          <p:nvPr/>
        </p:nvSpPr>
        <p:spPr>
          <a:xfrm>
            <a:off x="4286369" y="5084326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687491" y="4521160"/>
            <a:ext cx="4807506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Manual marketing reporting across multiple platforms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87491" y="4768572"/>
            <a:ext cx="5687378" cy="13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Recommended Tool: DashThis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87491" y="4944428"/>
            <a:ext cx="5687378" cy="277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This Fits: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Consolidates Google Analytics, Meta Ads, Google Ads, and scheduling platforms into one auto-updating dashboard—eliminating manual reporting.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87491" y="5259110"/>
            <a:ext cx="5687378" cy="619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Complexity: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some-setup</a:t>
            </a:r>
            <a:endParaRPr lang="en-US" sz="9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Monthly Cost: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$42</a:t>
            </a:r>
            <a:endParaRPr lang="en-US" sz="9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Setup Time: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1-2 hours</a:t>
            </a:r>
            <a:endParaRPr lang="en-US" sz="9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 Saved: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2 hours/week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6824" y="6079331"/>
            <a:ext cx="6396633" cy="1635085"/>
          </a:xfrm>
          <a:prstGeom prst="roundRect">
            <a:avLst>
              <a:gd name="adj" fmla="val 1132"/>
            </a:avLst>
          </a:prstGeom>
          <a:solidFill>
            <a:srgbClr val="111213"/>
          </a:solidFill>
          <a:ln w="15240">
            <a:solidFill>
              <a:srgbClr val="494A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32064" y="6094571"/>
            <a:ext cx="493752" cy="1604605"/>
          </a:xfrm>
          <a:prstGeom prst="roundRect">
            <a:avLst>
              <a:gd name="adj" fmla="val 46"/>
            </a:avLst>
          </a:prstGeom>
          <a:solidFill>
            <a:srgbClr val="303132"/>
          </a:solidFill>
          <a:ln/>
        </p:spPr>
      </p:sp>
      <p:sp>
        <p:nvSpPr>
          <p:cNvPr id="26" name="Text 24"/>
          <p:cNvSpPr/>
          <p:nvPr/>
        </p:nvSpPr>
        <p:spPr>
          <a:xfrm>
            <a:off x="4286369" y="6781086"/>
            <a:ext cx="18514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687491" y="6217920"/>
            <a:ext cx="4445437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Low-level design tasks pulling from strategic work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87491" y="6465332"/>
            <a:ext cx="5687378" cy="13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Recommended Tool: Canva Magic Design + Brand Kit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87491" y="6641187"/>
            <a:ext cx="5687378" cy="277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This Fits: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Creates on-brand templates once so recurring designs can be handled without leadership involvement.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87491" y="6955869"/>
            <a:ext cx="5687378" cy="619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Complexity: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some-setup</a:t>
            </a:r>
            <a:endParaRPr lang="en-US" sz="9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Monthly Cost: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$0 (already using)</a:t>
            </a:r>
            <a:endParaRPr lang="en-US" sz="9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Setup Time: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1-2 hours</a:t>
            </a:r>
            <a:endParaRPr lang="en-US" sz="9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 Saved:</a:t>
            </a:r>
            <a:pPr algn="l" indent="0" marL="0">
              <a:lnSpc>
                <a:spcPts val="10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2 hours/week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2064" y="1207770"/>
            <a:ext cx="8266152" cy="70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4-Day Quick Wins Plan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8567" y="2526316"/>
            <a:ext cx="12793266" cy="38457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8567" y="2842379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5" name="Text 3"/>
          <p:cNvSpPr/>
          <p:nvPr/>
        </p:nvSpPr>
        <p:spPr>
          <a:xfrm>
            <a:off x="1027926" y="2909649"/>
            <a:ext cx="336590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720810" y="2927152"/>
            <a:ext cx="280547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Day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20810" y="3425904"/>
            <a:ext cx="5440085" cy="74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Task: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Set up ​Fathom​ and connect to Google Calendar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720810" y="4314825"/>
            <a:ext cx="5440085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Tool: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​Fathom​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69505" y="2842379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10" name="Text 8"/>
          <p:cNvSpPr/>
          <p:nvPr/>
        </p:nvSpPr>
        <p:spPr>
          <a:xfrm>
            <a:off x="7578864" y="2909649"/>
            <a:ext cx="336590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8271748" y="2927152"/>
            <a:ext cx="280547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Day 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71748" y="3425904"/>
            <a:ext cx="5440085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Task: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Set up SaneBox and connect to Gmail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71748" y="3944422"/>
            <a:ext cx="5440085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Tool: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SaneBox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18567" y="5178981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15" name="Text 13"/>
          <p:cNvSpPr/>
          <p:nvPr/>
        </p:nvSpPr>
        <p:spPr>
          <a:xfrm>
            <a:off x="1027926" y="5246251"/>
            <a:ext cx="336590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1720810" y="5263753"/>
            <a:ext cx="280547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Day 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20810" y="5762506"/>
            <a:ext cx="5440085" cy="74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Task: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Create Canva Brand Kit with colors, fonts, and logos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720810" y="6651427"/>
            <a:ext cx="5440085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Tool: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Canva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469505" y="5178981"/>
            <a:ext cx="555427" cy="555427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20" name="Text 18"/>
          <p:cNvSpPr/>
          <p:nvPr/>
        </p:nvSpPr>
        <p:spPr>
          <a:xfrm>
            <a:off x="7578864" y="5246251"/>
            <a:ext cx="336590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8271748" y="5263753"/>
            <a:ext cx="280547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Day 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71748" y="5762506"/>
            <a:ext cx="5440085" cy="74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Task: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Sign up for DashThis and connect Google Analytics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271748" y="6651427"/>
            <a:ext cx="5440085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Tool: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DashThis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28092" y="2362557"/>
            <a:ext cx="8974217" cy="70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Comes After Quick Wins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8567" y="3681103"/>
            <a:ext cx="12793266" cy="38457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8567" y="3997166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8567" y="4386263"/>
            <a:ext cx="4099798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8567" y="4570571"/>
            <a:ext cx="4099798" cy="111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Set up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GoHighLevel CRM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consolidate leads and streamline sales communication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265182" y="3997166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65182" y="4386263"/>
            <a:ext cx="4099917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265182" y="4570571"/>
            <a:ext cx="4099917" cy="111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a Brand Voice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Claude Skill 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consistently create content in your voice/style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11916" y="3997166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611916" y="4386263"/>
            <a:ext cx="4099798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611916" y="4570571"/>
            <a:ext cx="4099798" cy="111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Set up a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 GPT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airBnB customers to handle FAQs, local recommendations, and more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09611" y="1504236"/>
            <a:ext cx="5611058" cy="70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Financial Impact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8567" y="2822781"/>
            <a:ext cx="12793266" cy="38457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942386" y="3385661"/>
            <a:ext cx="4047887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Weekly Time Returned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918567" y="4207550"/>
            <a:ext cx="6095524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 hours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8567" y="5145524"/>
            <a:ext cx="6095524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88385" y="3385661"/>
            <a:ext cx="3366611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Monthly Net ROI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623929" y="4207550"/>
            <a:ext cx="6095524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$3,141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623929" y="5145524"/>
            <a:ext cx="6095524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18567" y="5700832"/>
            <a:ext cx="12793266" cy="1024414"/>
          </a:xfrm>
          <a:prstGeom prst="roundRect">
            <a:avLst>
              <a:gd name="adj" fmla="val 3615"/>
            </a:avLst>
          </a:prstGeom>
          <a:solidFill>
            <a:srgbClr val="26262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384" y="6052423"/>
            <a:ext cx="308610" cy="24681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20810" y="6009322"/>
            <a:ext cx="11744206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monthly tool cost: $59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09611" y="1281351"/>
            <a:ext cx="5611058" cy="70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Next Steps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8567" y="2476500"/>
            <a:ext cx="12793266" cy="1634133"/>
          </a:xfrm>
          <a:prstGeom prst="roundRect">
            <a:avLst>
              <a:gd name="adj" fmla="val 2266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9047" y="2506980"/>
            <a:ext cx="987504" cy="1573173"/>
          </a:xfrm>
          <a:prstGeom prst="roundRect">
            <a:avLst>
              <a:gd name="adj" fmla="val 46"/>
            </a:avLst>
          </a:prstGeom>
          <a:solidFill>
            <a:srgbClr val="303132"/>
          </a:solidFill>
          <a:ln/>
        </p:spPr>
      </p:sp>
      <p:sp>
        <p:nvSpPr>
          <p:cNvPr id="5" name="Text 3"/>
          <p:cNvSpPr/>
          <p:nvPr/>
        </p:nvSpPr>
        <p:spPr>
          <a:xfrm>
            <a:off x="1257657" y="3062049"/>
            <a:ext cx="370284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2183368" y="2753797"/>
            <a:ext cx="6796802" cy="56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 the 4 Quick Wins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2183368" y="3462933"/>
            <a:ext cx="11251168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Follow the plan exactly as outlined to reclaim time and stabilize operations.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8567" y="4357449"/>
            <a:ext cx="12793266" cy="1634133"/>
          </a:xfrm>
          <a:prstGeom prst="roundRect">
            <a:avLst>
              <a:gd name="adj" fmla="val 2266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9047" y="4387929"/>
            <a:ext cx="987504" cy="1573173"/>
          </a:xfrm>
          <a:prstGeom prst="roundRect">
            <a:avLst>
              <a:gd name="adj" fmla="val 46"/>
            </a:avLst>
          </a:prstGeom>
          <a:solidFill>
            <a:srgbClr val="303132"/>
          </a:solidFill>
          <a:ln/>
        </p:spPr>
      </p:sp>
      <p:sp>
        <p:nvSpPr>
          <p:cNvPr id="10" name="Text 8"/>
          <p:cNvSpPr/>
          <p:nvPr/>
        </p:nvSpPr>
        <p:spPr>
          <a:xfrm>
            <a:off x="1257657" y="4942999"/>
            <a:ext cx="370284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2183368" y="4634746"/>
            <a:ext cx="7988141" cy="56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Schedule a 30-minute Review Call</a:t>
            </a:r>
            <a:endParaRPr lang="en-US" sz="3500" dirty="0"/>
          </a:p>
        </p:txBody>
      </p:sp>
      <p:sp>
        <p:nvSpPr>
          <p:cNvPr id="12" name="Text 10"/>
          <p:cNvSpPr/>
          <p:nvPr/>
        </p:nvSpPr>
        <p:spPr>
          <a:xfrm>
            <a:off x="2183368" y="5343882"/>
            <a:ext cx="11251168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We'll review results, validate wins, and decide if deeper automation is warranted.</a:t>
            </a:r>
            <a:endParaRPr lang="en-US" sz="1900" dirty="0"/>
          </a:p>
        </p:txBody>
      </p:sp>
      <p:pic>
        <p:nvPicPr>
          <p:cNvPr id="1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1662" y="6269236"/>
            <a:ext cx="3266956" cy="6788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2026-04-03T15:19:47Z</dcterms:created>
  <dcterms:modified xsi:type="dcterms:W3CDTF">2026-04-03T15:19:47Z</dcterms:modified>
</cp:coreProperties>
</file>